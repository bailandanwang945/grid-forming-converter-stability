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feb14929449b4" /><Relationship Type="http://schemas.openxmlformats.org/officeDocument/2006/relationships/extended-properties" Target="/docProps/app.xml" Id="Ra6371dac25ec42fa" /><Relationship Type="http://schemas.openxmlformats.org/officeDocument/2006/relationships/officeDocument" Target="/ppt/presentation.xml" Id="Re60024589ec0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fa8eb565e45ac"/>
  </p:sldMasterIdLst>
  <p:notesMasterIdLst>
    <p:notesMasterId xmlns:r="http://schemas.openxmlformats.org/officeDocument/2006/relationships" r:id="Rbdaf56c9802a4821"/>
  </p:notesMasterIdLst>
  <p:sldIdLst>
    <p:sldId xmlns:r="http://schemas.openxmlformats.org/officeDocument/2006/relationships" id="256" r:id="R91b4de300d6f44b4"/>
    <p:sldId xmlns:r="http://schemas.openxmlformats.org/officeDocument/2006/relationships" id="257" r:id="R2adac11b6c6b4186"/>
    <p:sldId xmlns:r="http://schemas.openxmlformats.org/officeDocument/2006/relationships" id="258" r:id="R5462799807b14871"/>
    <p:sldId xmlns:r="http://schemas.openxmlformats.org/officeDocument/2006/relationships" id="259" r:id="Rc19bafea712e4f0e"/>
    <p:sldId xmlns:r="http://schemas.openxmlformats.org/officeDocument/2006/relationships" id="260" r:id="R558b47bf5db54c6b"/>
    <p:sldId xmlns:r="http://schemas.openxmlformats.org/officeDocument/2006/relationships" id="261" r:id="R8d9a6ee03b9d4e64"/>
    <p:sldId xmlns:r="http://schemas.openxmlformats.org/officeDocument/2006/relationships" id="262" r:id="Rca5635c012a54492"/>
    <p:sldId xmlns:r="http://schemas.openxmlformats.org/officeDocument/2006/relationships" id="263" r:id="Ra0af7809b5bf4fc3"/>
    <p:sldId xmlns:r="http://schemas.openxmlformats.org/officeDocument/2006/relationships" id="264" r:id="R52fc50450e9d4670"/>
    <p:sldId xmlns:r="http://schemas.openxmlformats.org/officeDocument/2006/relationships" id="265" r:id="Rf0426b011bff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7fa823850140c9" /><Relationship Type="http://schemas.openxmlformats.org/officeDocument/2006/relationships/slideMaster" Target="/ppt/slideMasters/slideMaster1.xml" Id="Rd7ffa8eb565e45ac" /><Relationship Type="http://schemas.openxmlformats.org/officeDocument/2006/relationships/notesMaster" Target="/ppt/notesMasters/notesMaster1.xml" Id="Rbdaf56c9802a4821" /><Relationship Type="http://schemas.openxmlformats.org/officeDocument/2006/relationships/presProps" Target="/ppt/presProps.xml" Id="Ra3461aaf4e774d1f" /><Relationship Type="http://schemas.openxmlformats.org/officeDocument/2006/relationships/tableStyles" Target="/ppt/tableStyles.xml" Id="R5ab1e5f537164ff2" /><Relationship Type="http://schemas.openxmlformats.org/officeDocument/2006/relationships/slide" Target="/ppt/slides/slide1.xml" Id="R91b4de300d6f44b4" /><Relationship Type="http://schemas.openxmlformats.org/officeDocument/2006/relationships/slide" Target="/ppt/slides/slide2.xml" Id="R2adac11b6c6b4186" /><Relationship Type="http://schemas.openxmlformats.org/officeDocument/2006/relationships/slide" Target="/ppt/slides/slide3.xml" Id="R5462799807b14871" /><Relationship Type="http://schemas.openxmlformats.org/officeDocument/2006/relationships/slide" Target="/ppt/slides/slide4.xml" Id="Rc19bafea712e4f0e" /><Relationship Type="http://schemas.openxmlformats.org/officeDocument/2006/relationships/slide" Target="/ppt/slides/slide5.xml" Id="R558b47bf5db54c6b" /><Relationship Type="http://schemas.openxmlformats.org/officeDocument/2006/relationships/slide" Target="/ppt/slides/slide6.xml" Id="R8d9a6ee03b9d4e64" /><Relationship Type="http://schemas.openxmlformats.org/officeDocument/2006/relationships/slide" Target="/ppt/slides/slide7.xml" Id="Rca5635c012a54492" /><Relationship Type="http://schemas.openxmlformats.org/officeDocument/2006/relationships/slide" Target="/ppt/slides/slide8.xml" Id="Ra0af7809b5bf4fc3" /><Relationship Type="http://schemas.openxmlformats.org/officeDocument/2006/relationships/slide" Target="/ppt/slides/slide9.xml" Id="R52fc50450e9d4670" /><Relationship Type="http://schemas.openxmlformats.org/officeDocument/2006/relationships/slide" Target="/ppt/slides/slide10.xml" Id="Rf0426b011bff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a2ae9c08d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04d201a63c4318" /><Relationship Type="http://schemas.openxmlformats.org/officeDocument/2006/relationships/notesMaster" Target="/ppt/notesMasters/notesMaster1.xml" Id="Rd0adaf7e7664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af8252e3f44016" /><Relationship Type="http://schemas.openxmlformats.org/officeDocument/2006/relationships/notesMaster" Target="/ppt/notesMasters/notesMaster1.xml" Id="Rbe2be9b29221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0af784e5d451a" /><Relationship Type="http://schemas.openxmlformats.org/officeDocument/2006/relationships/notesMaster" Target="/ppt/notesMasters/notesMaster1.xml" Id="R89f2436e13354b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6209b2e004c95" /><Relationship Type="http://schemas.openxmlformats.org/officeDocument/2006/relationships/notesMaster" Target="/ppt/notesMasters/notesMaster1.xml" Id="Rdc4fce9b14d944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1ad63368041c2" /><Relationship Type="http://schemas.openxmlformats.org/officeDocument/2006/relationships/notesMaster" Target="/ppt/notesMasters/notesMaster1.xml" Id="R605b9b7eb381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62f0bbad2140f2" /><Relationship Type="http://schemas.openxmlformats.org/officeDocument/2006/relationships/notesMaster" Target="/ppt/notesMasters/notesMaster1.xml" Id="R8a8ce662f4db46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056c6c3a614e67" /><Relationship Type="http://schemas.openxmlformats.org/officeDocument/2006/relationships/notesMaster" Target="/ppt/notesMasters/notesMaster1.xml" Id="Rb7640b591ae142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a794542acd48e5" /><Relationship Type="http://schemas.openxmlformats.org/officeDocument/2006/relationships/notesMaster" Target="/ppt/notesMasters/notesMaster1.xml" Id="R473588c12fa9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76389edd04855" /><Relationship Type="http://schemas.openxmlformats.org/officeDocument/2006/relationships/notesMaster" Target="/ppt/notesMasters/notesMaster1.xml" Id="R8312ac526e8246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02d70a0d6c46d0" /><Relationship Type="http://schemas.openxmlformats.org/officeDocument/2006/relationships/notesMaster" Target="/ppt/notesMasters/notesMaster1.xml" Id="R8d7dbd349ce1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开场：本项目没有把界面包装当作研究创新，而是围绕一个可检验的问题组织证据——论文的分散式充分判据能确认哪些稳定参数点，又会遗漏哪些闭环参考稳定点。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E:/git_Projects/grid-forming-converter-stability/README.md</a:t>
            </a:r>
          </a:p>
          <a:p xmlns:a="http://schemas.openxmlformats.org/drawingml/2006/main">
            <a:r>
              <a:t>- E:/git_Projects/grid-forming-converter-stability/results/comparison/fig8-damping-grid-strength/summary.json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强调逻辑边界：充分条件失败只表示没有被当前判据确认，而不是系统必然失稳；界面演示也不能替代数值内核。后续所有图表都沿用这三层证据。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E:/git_Projects/grid-forming-converter-stability/docs/research/fig8-frequency-discrepancy-audit.md</a:t>
            </a:r>
          </a:p>
          <a:p xmlns:a="http://schemas.openxmlformats.org/drawingml/2006/main">
            <a:r>
              <a:t>- E:/git_Projects/grid-forming-converter-stability/docs/software/VERIFICATION.md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这三层对应项目的学习、思考与工程化：先复现作者结果，再提出同域可证伪比较，最后把计算链封装为评委可操作的软件。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E:/git_Projects/grid-forming-converter-stability/docs/PROJECT_PLAN.md</a:t>
            </a:r>
          </a:p>
          <a:p xmlns:a="http://schemas.openxmlformats.org/drawingml/2006/main">
            <a:r>
              <a:t>- E:/git_Projects/grid-forming-converter-stability/notes/EVIDENCE_LEDGER.csv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现场只演示三步：选择论文失稳工况、修改独立模型阻尼并重算、打开同域热图并导出报告。这样两分钟内能够证明输入—计算—输出闭环。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E:/git_Projects/grid-forming-converter-stability/apps/web/src</a:t>
            </a:r>
          </a:p>
          <a:p xmlns:a="http://schemas.openxmlformats.org/drawingml/2006/main">
            <a:r>
              <a:t>- E:/git_Projects/grid-forming-converter-stability/backend/api/app.py</a:t>
            </a:r>
          </a:p>
          <a:p xmlns:a="http://schemas.openxmlformats.org/drawingml/2006/main">
            <a:r>
              <a:t>- E:/git_Projects/grid-forming-converter-stability/tmp/browser-smoke.png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复现完成的是稳定性判断与有限网格筛查。闭环主导频率约 0.578 Hz，而论文正文写 1.2 Hz；差异尚未闭合，因此答辩时只陈述已证实部分，不自行解释成二倍频。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E:/git_Projects/grid-forming-converter-stability/docs/research/fig8-frequency-discrepancy-audit.md</a:t>
            </a:r>
          </a:p>
          <a:p xmlns:a="http://schemas.openxmlformats.org/drawingml/2006/main">
            <a:r>
              <a:t>- E:/git_Projects/grid-forming-converter-stability/results/verification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这张图回答项目最重要的问题：在保持模型和参数点完全相同的前提下，判据覆盖区和闭环参考稳定区相差多少。它避免了拿两个不同模型并排展示却无法解释差异的弱论证。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E:/git_Projects/grid-forming-converter-stability/results/comparison/fig8-damping-grid-strength/parameter_domain.csv</a:t>
            </a:r>
          </a:p>
          <a:p xmlns:a="http://schemas.openxmlformats.org/drawingml/2006/main">
            <a:r>
              <a:t>- E:/git_Projects/grid-forming-converter-stability/results/comparison/fig8-damping-grid-strength/summary.json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 96 个点是项目最有价值的非平凡结果：它们量化了当前有限网格充分判据在该扫描域内观察到的保守性；它们不是判据错误，更不能由此声称系统在真实物理中必然稳定。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E:/git_Projects/grid-forming-converter-stability/results/comparison/fig8-damping-grid-strength/summary.json</a:t>
            </a:r>
          </a:p>
          <a:p xmlns:a="http://schemas.openxmlformats.org/drawingml/2006/main">
            <a:r>
              <a:t>- E:/git_Projects/grid-forming-converter-stability/experiments/comparison/run_fig8_parameter_domain_comparison.m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答辩中应称为‘接口可扩展的小型网络 VSM 稳定性分析工作台’，不能称任意控制器、任意元件的通用平台。平均值 dq 模型已有规范，但当前没有把提案冒充实现。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E:/git_Projects/grid-forming-converter-stability/docs/specs/models/average-dq-gfm-v1-proposal.md</a:t>
            </a:r>
          </a:p>
          <a:p xmlns:a="http://schemas.openxmlformats.org/drawingml/2006/main">
            <a:r>
              <a:t>- E:/git_Projects/grid-forming-converter-stability/backend/core/reduced_order_model.py</a:t>
            </a:r>
          </a:p>
          <a:p xmlns:a="http://schemas.openxmlformats.org/drawingml/2006/main">
            <a:r>
              <a:t>- https://www.mathworks.com/help/sps/ug/design-analyze-gridforming-converter.html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本机统一验收五项全通过，但跨机能力必须由无 Python、Node 和 MATLAB 的另一台 Windows 电脑验证。我们把这一项列为交付前人工验收，而不是用本机结果替代。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E:/git_Projects/grid-forming-converter-stability/results/test-reports/2026-08-10-unified-release-candidate.md</a:t>
            </a:r>
          </a:p>
          <a:p xmlns:a="http://schemas.openxmlformats.org/drawingml/2006/main">
            <a:r>
              <a:t>- E:/git_Projects/grid-forming-converter-stability/docs/software/VERIFICATION.md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收束：项目的创新不在于重新发明稳定性理论，而在于把论文充分判据、闭环参考和软件交付置于同一可追溯框架内，并用 176 点对照给出可检验的保守性证据。下一步只做三项人工收口：异机断网验收、学院模板校准、导师范围确认。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E:/git_Projects/grid-forming-converter-stability/README.md</a:t>
            </a:r>
          </a:p>
          <a:p xmlns:a="http://schemas.openxmlformats.org/drawingml/2006/main">
            <a:r>
              <a:t>- E:/git_Projects/grid-forming-converter-stability/docs/SUBMISSION_CHECKLIST.md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5e4d3f02a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1fa5c26364a8b" /><Relationship Type="http://schemas.openxmlformats.org/officeDocument/2006/relationships/slideLayout" Target="/ppt/slideLayouts/slideLayout1.xml" Id="R4defa0f2004c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fa0f2004c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104c100e84bf4" /><Relationship Type="http://schemas.openxmlformats.org/officeDocument/2006/relationships/notesSlide" Target="/ppt/notesSlides/notesSlide1.xml" Id="R0515aa0b0d0843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7d619560b4f8b" /><Relationship Type="http://schemas.openxmlformats.org/officeDocument/2006/relationships/notesSlide" Target="/ppt/notesSlides/notesSlide2.xml" Id="Rdb117825a76c4b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39777dfe340aa" /><Relationship Type="http://schemas.openxmlformats.org/officeDocument/2006/relationships/notesSlide" Target="/ppt/notesSlides/notesSlide3.xml" Id="R93d85fab0ae644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b975a6c1f43f6" /><Relationship Type="http://schemas.openxmlformats.org/officeDocument/2006/relationships/image" Target="/ppt/media/image.png" Id="Rbfc229e167514d0b" /><Relationship Type="http://schemas.openxmlformats.org/officeDocument/2006/relationships/notesSlide" Target="/ppt/notesSlides/notesSlide4.xml" Id="Rb79423ec868b47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033d0f0dc4264" /><Relationship Type="http://schemas.openxmlformats.org/officeDocument/2006/relationships/notesSlide" Target="/ppt/notesSlides/notesSlide5.xml" Id="R45cda8f226284a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65e7375454ef3" /><Relationship Type="http://schemas.openxmlformats.org/officeDocument/2006/relationships/image" Target="/ppt/media/image2.png" Id="R620cebbe43a24001" /><Relationship Type="http://schemas.openxmlformats.org/officeDocument/2006/relationships/notesSlide" Target="/ppt/notesSlides/notesSlide6.xml" Id="R1a0f00c4862f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3e36481f8427e" /><Relationship Type="http://schemas.openxmlformats.org/officeDocument/2006/relationships/notesSlide" Target="/ppt/notesSlides/notesSlide7.xml" Id="R2c5a1b62265448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1dc05c32e496e" /><Relationship Type="http://schemas.openxmlformats.org/officeDocument/2006/relationships/notesSlide" Target="/ppt/notesSlides/notesSlide8.xml" Id="R8c87ffa5ff6a43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3b75934a74367" /><Relationship Type="http://schemas.openxmlformats.org/officeDocument/2006/relationships/notesSlide" Target="/ppt/notesSlides/notesSlide9.xml" Id="R02d05db1492749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e9ec286574e58" /><Relationship Type="http://schemas.openxmlformats.org/officeDocument/2006/relationships/notesSlide" Target="/ppt/notesSlides/notesSlide10.xml" Id="R47590c3ec95247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E80A4D7-D89C-4C84-8737-37C2D12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构网型变流器
稳定性分析平台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FEBD47F-3F42-471E-B071-57DD582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从论文 Fig. 8 复现，到同一参数域内的保守性对照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21F2B06-94E9-47C7-AEDC-9A139D9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国家级大学生创新训练计划 · 结项答辩</a:t>
            </a:r>
          </a:p>
        </p:txBody>
      </p:sp>
    </p:spTree>
    <p:extLst>
      <p:ext uri="{BB962C8B-B14F-4D97-AF65-F5344CB8AC3E}">
        <p14:creationId xmlns:p14="http://schemas.microsoft.com/office/powerpoint/2010/main" val="703291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4D102AA-B6BF-4C6C-8621-C024EFA0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EAD8522-2F1B-4C14-8765-95FFA39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先把三类结论分开，才谈得上可信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9111173-3E40-4931-A499-DE7208A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论文判据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小增益与小相位条件给出稳定性的充分判据。通过即可确认，不通过不能反推失稳。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C0BC69FF-4B9D-4668-8688-0524DCE3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软件展示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界面负责编辑、计算、导出与追溯；滑杆中间值若未重算，不冒充内核结果。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1D77CA8-B4B0-4D83-B711-17D07B7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闭环参考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以同一线性模型的闭环特征根作为有限精度参考，划分稳定、失稳与数值待定。</a:t>
            </a:r>
          </a:p>
        </p:txBody>
      </p:sp>
    </p:spTree>
    <p:extLst>
      <p:ext uri="{BB962C8B-B14F-4D97-AF65-F5344CB8AC3E}">
        <p14:creationId xmlns:p14="http://schemas.microsoft.com/office/powerpoint/2010/main" val="304371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E6413C2-C944-4E5F-89E7-2C4179C3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5EFFF4E-6530-42AE-B150-09DD839D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研究路线：复现—对照—封装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A13BE0B-F7F2-4A78-AD06-A930A39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9C712CB-AFDE-4354-A47A-5459347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A9EEF51-10E7-47BB-B0F9-2007139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4A6265A-CD5A-49A5-81F0-356DC39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第一层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B7189D-775D-49D7-B097-5169C1E0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第二层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8223E1F-B5EF-4AA9-8304-6D90EB3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第三层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7830C17-04AF-40CE-BB5B-A198600F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同域比较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扫描 11×16 个参数点，同时计算判据覆盖与闭环极点。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E6B24DF-E0CA-4242-87BB-B83296FE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论文复现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 1000 个频点，核对作者 Fig. 8 两个阻尼工况。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D0B6CA6-3760-4927-BFF7-8D46E9F5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便携交付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前端、Python 内核、报告和 Windows 发布包形成可复算链。</a:t>
            </a:r>
          </a:p>
        </p:txBody>
      </p:sp>
    </p:spTree>
    <p:extLst>
      <p:ext uri="{BB962C8B-B14F-4D97-AF65-F5344CB8AC3E}">
        <p14:creationId xmlns:p14="http://schemas.microsoft.com/office/powerpoint/2010/main" val="3990672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A28B9D6-C03D-41A6-8885-79FCD5C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056D29F-DC2C-479F-99F6-0B0066C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三工作区共享同一套可重算内核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1EEF7F6D-F563-4BFA-BE22-0B017BF2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229e167514d0b"/>
          <a:srcRect xmlns:a="http://schemas.openxmlformats.org/drawingml/2006/main" l="0" t="16639" r="0" b="16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AD89944-DA04-47B9-AB45-5559EC1B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三条计算链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论文复现：固定 Fig. 8 算例。
独立模型：拓扑、阻尼与线路参数可编辑。
同域对照：176 个参数点可查询并导出。
同一程序同时提供网页、API 与可打印报告。</a:t>
            </a:r>
          </a:p>
        </p:txBody>
      </p:sp>
    </p:spTree>
    <p:extLst>
      <p:ext uri="{BB962C8B-B14F-4D97-AF65-F5344CB8AC3E}">
        <p14:creationId xmlns:p14="http://schemas.microsoft.com/office/powerpoint/2010/main" val="2450660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4C12471-DC12-4A06-ACBA-FB09056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E1C429B-E8AD-4535-B2D3-11FF676D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83936BB-FFD9-48FC-AFA2-6656C7E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AC54E26-9F9D-40D0-ADC3-1E86694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2112DDF-920D-47D3-A7EC-6EAAF00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论文固定算例复现：稳定性判断闭合，频率差异如实保留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412ED65-9E99-4DB8-9C37-99F8BF51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D=0.05
未覆盖频点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513AB1-041F-4CAD-9FA1-8BAF05FA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MATLAB
单元测试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9F6CC66-90C7-425A-B3DA-66A0C672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D=0.50
未覆盖频点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6457A67-9A34-4EA4-A678-63FB65E1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C43B3B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37037A0-9BCC-41D4-A6F4-0B5772A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295B3B2-8E3E-40F8-98D6-E8BE0438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128/128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C0104C3-CEBB-4EDD-9130-FDC3D63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Fig. 8 双工况均以作者工作簿为输入；Python 与 MATLAB 的覆盖计数、关键裕度和矩阵快照一致。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869279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FF72BF-E7D4-4599-9151-EE38B9D9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2A79465-E8D0-4274-9898-D1A2509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核心增量：同域量化判据保守性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A3BD027-DE51-4683-8D6B-7B17655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cebbe43a24001"/>
          <a:srcRect xmlns:a="http://schemas.openxmlformats.org/drawingml/2006/main" l="8158" t="0" r="81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97329E7-A9AA-414F-9A88-EF4FAD3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二维参数域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横轴为线路阻抗缩放 κ，纵轴为阻尼 D。每一点同时记录闭环主导极点与有限频率网格判据结果。
颜色不是“真稳定域”，而是闭环特征根参考分类与充分判据覆盖分类。</a:t>
            </a:r>
          </a:p>
        </p:txBody>
      </p:sp>
    </p:spTree>
    <p:extLst>
      <p:ext uri="{BB962C8B-B14F-4D97-AF65-F5344CB8AC3E}">
        <p14:creationId xmlns:p14="http://schemas.microsoft.com/office/powerpoint/2010/main" val="19239343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728060C-5C45-4A35-97F2-A5B0D79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58030DA-533F-488C-B53E-61DE4137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1C7D5C5-A1B9-405B-B6D5-F12667B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7E2959C-BE46-483A-94DC-0AA6D056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1FD5D9D-8673-4252-BCFA-7E3147F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176 个参数点形成可复核的三类证据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DE6A18B-D3B5-47EC-ADA6-99C17B8A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判据确认且
闭环参考稳定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5ED98F6-4549-4E24-BC82-EB0B0B8F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闭环参考
失稳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5D85DEF-CF4C-487E-B872-0C22E2EB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闭环参考稳定
但判据未覆盖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C3456BB-5BD3-4424-A258-5FB3AF59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21653EB-D411-46D0-A1E2-2698434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C48700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3534A2F-529D-446D-AB56-CEA057F9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C43B3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621B5C5-CE1E-48EA-AC4D-63BE556A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没有出现“判据确认但闭环参考失稳”的一致性冲突，也没有数值待定点。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7200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B5D38BB-F42E-4707-9ACB-86D0D772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63E68BE-C42E-4199-8426-D750DE9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平台的通用性有范围：接口可扩展，当前内核不冒充全模型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3AE177F-7A8D-4B9F-A13A-81ACCC5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已经支持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小型多母线拓扑、VSM 参数、线路阻抗、Kron 消元、极点、时域响应与 D–X 扫描。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DBC4959-6848-4472-B7FA-5EEE686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后续模型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已冻结 16 状态平均值 dq 模型提案；待导师确认后，再作为层级交叉验证扩展。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6C0A717-811A-4064-A857-751C8874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明确排除
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 dq 内环、限流、负荷动态、电磁暂态、任意 GFM 控制器与非线性多机 DAE。</a:t>
            </a:r>
          </a:p>
        </p:txBody>
      </p:sp>
    </p:spTree>
    <p:extLst>
      <p:ext uri="{BB962C8B-B14F-4D97-AF65-F5344CB8AC3E}">
        <p14:creationId xmlns:p14="http://schemas.microsoft.com/office/powerpoint/2010/main" val="17643786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2F731F1-7A3B-4DCD-B6C2-7D1AADB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7DE4F5F-8B1E-4F5E-85E6-BC2F02EE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7A01497-B456-4ABF-AA4D-5DBA5654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0AFCC84-3A0A-467B-9657-375C274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E0BA869-0168-42D6-8E32-F9031C0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从算法到交付：五条验收链同时通过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6C15053-3D85-4769-98C6-7AFD0AB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
自动化测试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4C3EA56-CA96-4FDC-B2E4-7FD6BAB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统一验收
通过项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10B801E-36A1-46ED-BD15-4C14D855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MATLAB
单元测试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0877B0A-AD08-4424-A46A-E388D124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57/57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00A3A45-08FF-43DA-BE91-568BAA90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128/128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86F810E-09E5-4B24-88C9-07A1AA4C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5/5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EF81859-14C5-4586-AE43-B9EA737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统一验收覆盖 Python、网页构建、启动器、真实浏览器与 MATLAB；发布包仍需另一台电脑完成断网验收。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931664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A83FE2E-C062-4680-AC75-F3FBBE9D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形成了可复算、
可解释、可交付的研究闭环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F91A980-CDE4-4DFA-A8E8-A497634E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论文复现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同域保守性对照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便携软件与证据链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936E609-5D6E-49D9-AE4C-7A9B19B2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1399236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2026-08-10T10:24:32.0670000Z</dcterms:created>
  <dcterms:modified xsi:type="dcterms:W3CDTF">2026-08-10T10:24:32.0670000Z</dcterms:modified>
</coreProperties>
</file>